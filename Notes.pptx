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0E18D-D365-B947-E723-38B1182271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78D7F7-44DB-621E-78D9-E4CA2C2F7B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C7FA0B-2358-DF75-B897-3C9105562294}"/>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5" name="Footer Placeholder 4">
            <a:extLst>
              <a:ext uri="{FF2B5EF4-FFF2-40B4-BE49-F238E27FC236}">
                <a16:creationId xmlns:a16="http://schemas.microsoft.com/office/drawing/2014/main" id="{19203813-0640-FBBF-DCAF-82DECB6F0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B62482-F429-93C1-A783-927A57D8DF83}"/>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2608397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530F3-C264-A935-FDE6-B5944A6D22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9EF108-E0DB-7730-C42C-F12E24171A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FDF5A-5EFC-5BB4-715A-AAED3AD7FE6B}"/>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5" name="Footer Placeholder 4">
            <a:extLst>
              <a:ext uri="{FF2B5EF4-FFF2-40B4-BE49-F238E27FC236}">
                <a16:creationId xmlns:a16="http://schemas.microsoft.com/office/drawing/2014/main" id="{E8FB0580-E0B5-63A5-8869-0E42008EF6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212AB-4F72-0509-3F10-706840975252}"/>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1826926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5FCF3-336A-E449-0718-204990A8EA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474E98-88F8-26E8-38ED-1D30F6FC44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E05B1-8787-2E42-FA47-3B280EFAF526}"/>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5" name="Footer Placeholder 4">
            <a:extLst>
              <a:ext uri="{FF2B5EF4-FFF2-40B4-BE49-F238E27FC236}">
                <a16:creationId xmlns:a16="http://schemas.microsoft.com/office/drawing/2014/main" id="{1E012325-18EA-BAC7-FB1C-9A45D1B41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25F4C-4FB4-AB48-EFBE-4886ABCFC991}"/>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3502297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87E9-BEF4-8EE9-85A3-7CC8C9357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5F9ED8-410E-34BF-69F9-E0B13AABB7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61406E-12FA-0940-1B47-AE5E63FEA1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AE9883-1850-8E10-ABB5-FFBBCC95C059}"/>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6" name="Footer Placeholder 5">
            <a:extLst>
              <a:ext uri="{FF2B5EF4-FFF2-40B4-BE49-F238E27FC236}">
                <a16:creationId xmlns:a16="http://schemas.microsoft.com/office/drawing/2014/main" id="{27B2BCDE-2892-D9E7-4B21-A9373EE01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8DBFCA-C664-2D64-595C-AA8C9725982C}"/>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232116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F28A6-BC77-B208-DBE4-7368116B57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1FD72C-3C71-0FD2-F59D-0640A86041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BA472C-47B2-7DC6-88CD-DB8718D777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25BE1A-E2C8-A828-EE82-FABAB9E59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5BBA5-C96E-3AB5-5595-41AD08DD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E5E06C-8260-7E4E-9170-F8F7B8C20748}"/>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8" name="Footer Placeholder 7">
            <a:extLst>
              <a:ext uri="{FF2B5EF4-FFF2-40B4-BE49-F238E27FC236}">
                <a16:creationId xmlns:a16="http://schemas.microsoft.com/office/drawing/2014/main" id="{BA153C7F-D5D8-80E2-97BB-6C9CA7CBDD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AC8ABF-16B1-FC34-5533-46C6D66D87B7}"/>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3382785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B6D2-E58C-FF4F-6020-0F1C7FD861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D70868-C30D-D5AE-E4B5-279553CE954E}"/>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4" name="Footer Placeholder 3">
            <a:extLst>
              <a:ext uri="{FF2B5EF4-FFF2-40B4-BE49-F238E27FC236}">
                <a16:creationId xmlns:a16="http://schemas.microsoft.com/office/drawing/2014/main" id="{2E2A1E35-21E7-D0EA-C374-0CE6430A08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74D782-BB0C-F236-4DCF-D5CD4EE8CF8C}"/>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3549369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D009BF-3006-35B2-EB1E-933722F7915F}"/>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3" name="Footer Placeholder 2">
            <a:extLst>
              <a:ext uri="{FF2B5EF4-FFF2-40B4-BE49-F238E27FC236}">
                <a16:creationId xmlns:a16="http://schemas.microsoft.com/office/drawing/2014/main" id="{AAE12DC0-0048-6DF6-39A8-F33B600370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17D2B9-1DAF-23B7-A9CA-46339FC0F6E0}"/>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2295082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507DD-84DC-79E0-9D33-1E99D6C6C7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350DFA-B1AE-582F-26E3-0ADA6219B9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02A0B-05D9-1DC6-74F4-A52122754A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A066D-BBE0-186C-ECCA-4EA17B79924A}"/>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6" name="Footer Placeholder 5">
            <a:extLst>
              <a:ext uri="{FF2B5EF4-FFF2-40B4-BE49-F238E27FC236}">
                <a16:creationId xmlns:a16="http://schemas.microsoft.com/office/drawing/2014/main" id="{C153B77D-6AA9-9663-DF2A-02C1E9EA4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1B7C41-860D-8954-9846-67F59BCD956A}"/>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3759142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68167-9FF2-0789-C596-C1B670E27B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593297-9A5A-0D65-FF24-806D289BF7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17FB13-8D24-10A9-A26B-2B94B61DB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F1DADD-F2D8-28A7-651A-57969B93F714}"/>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6" name="Footer Placeholder 5">
            <a:extLst>
              <a:ext uri="{FF2B5EF4-FFF2-40B4-BE49-F238E27FC236}">
                <a16:creationId xmlns:a16="http://schemas.microsoft.com/office/drawing/2014/main" id="{90F1C694-8DF1-0A45-9F8C-44A0E6E67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AC72DD-A66C-81BF-4A94-DBF01B7824DE}"/>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4025326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BE91-A2D2-E22C-BB01-8061FFB555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F0B866-5546-B9C5-1C74-C4D5F52295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DA681-8923-F8D6-D7CD-B9EE85F5553C}"/>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5" name="Footer Placeholder 4">
            <a:extLst>
              <a:ext uri="{FF2B5EF4-FFF2-40B4-BE49-F238E27FC236}">
                <a16:creationId xmlns:a16="http://schemas.microsoft.com/office/drawing/2014/main" id="{72DD7540-2ECB-A53A-D632-6719778B5F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DAF20B-0403-C612-777B-030BAD5785D7}"/>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1868526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911B84-F9F7-0335-98E7-269C589FB1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34A66-440B-ABC0-4F1A-4185143626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4984CF-8BE9-ABBA-CFD2-CE2F388E4BA5}"/>
              </a:ext>
            </a:extLst>
          </p:cNvPr>
          <p:cNvSpPr>
            <a:spLocks noGrp="1"/>
          </p:cNvSpPr>
          <p:nvPr>
            <p:ph type="dt" sz="half" idx="10"/>
          </p:nvPr>
        </p:nvSpPr>
        <p:spPr/>
        <p:txBody>
          <a:bodyPr/>
          <a:lstStyle/>
          <a:p>
            <a:fld id="{52AEBEC2-7365-46BD-B685-A0309931C000}" type="datetimeFigureOut">
              <a:rPr lang="en-US" smtClean="0"/>
              <a:t>8/14/2026</a:t>
            </a:fld>
            <a:endParaRPr lang="en-US"/>
          </a:p>
        </p:txBody>
      </p:sp>
      <p:sp>
        <p:nvSpPr>
          <p:cNvPr id="5" name="Footer Placeholder 4">
            <a:extLst>
              <a:ext uri="{FF2B5EF4-FFF2-40B4-BE49-F238E27FC236}">
                <a16:creationId xmlns:a16="http://schemas.microsoft.com/office/drawing/2014/main" id="{F58EEE7C-A6C2-C013-4C10-AD0F883B03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8B131-FD74-A1F4-F725-34646B4D8846}"/>
              </a:ext>
            </a:extLst>
          </p:cNvPr>
          <p:cNvSpPr>
            <a:spLocks noGrp="1"/>
          </p:cNvSpPr>
          <p:nvPr>
            <p:ph type="sldNum" sz="quarter" idx="12"/>
          </p:nvPr>
        </p:nvSpPr>
        <p:spPr/>
        <p:txBody>
          <a:bodyPr/>
          <a:lstStyle/>
          <a:p>
            <a:fld id="{A888835A-684D-40A7-AFBF-EAF220B47F11}" type="slidenum">
              <a:rPr lang="en-US" smtClean="0"/>
              <a:t>‹#›</a:t>
            </a:fld>
            <a:endParaRPr lang="en-US"/>
          </a:p>
        </p:txBody>
      </p:sp>
    </p:spTree>
    <p:extLst>
      <p:ext uri="{BB962C8B-B14F-4D97-AF65-F5344CB8AC3E}">
        <p14:creationId xmlns:p14="http://schemas.microsoft.com/office/powerpoint/2010/main" val="360589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F7DBDB-B7BA-FF08-596C-3C35C3624E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D48907-95C9-746C-2759-528CC8B71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80C80B-B5A7-21AC-531C-B773614C24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AEBEC2-7365-46BD-B685-A0309931C000}" type="datetimeFigureOut">
              <a:rPr lang="en-US" smtClean="0"/>
              <a:t>8/14/2026</a:t>
            </a:fld>
            <a:endParaRPr lang="en-US"/>
          </a:p>
        </p:txBody>
      </p:sp>
      <p:sp>
        <p:nvSpPr>
          <p:cNvPr id="5" name="Footer Placeholder 4">
            <a:extLst>
              <a:ext uri="{FF2B5EF4-FFF2-40B4-BE49-F238E27FC236}">
                <a16:creationId xmlns:a16="http://schemas.microsoft.com/office/drawing/2014/main" id="{C79CECDD-9C2D-3CCE-4CCA-9A2CF77975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211625-1007-FD1E-C62B-52BA1096BB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88835A-684D-40A7-AFBF-EAF220B47F11}" type="slidenum">
              <a:rPr lang="en-US" smtClean="0"/>
              <a:t>‹#›</a:t>
            </a:fld>
            <a:endParaRPr lang="en-US"/>
          </a:p>
        </p:txBody>
      </p:sp>
    </p:spTree>
    <p:extLst>
      <p:ext uri="{BB962C8B-B14F-4D97-AF65-F5344CB8AC3E}">
        <p14:creationId xmlns:p14="http://schemas.microsoft.com/office/powerpoint/2010/main" val="493389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722C-35A8-E007-F063-4199B90353CD}"/>
              </a:ext>
            </a:extLst>
          </p:cNvPr>
          <p:cNvSpPr>
            <a:spLocks noGrp="1"/>
          </p:cNvSpPr>
          <p:nvPr>
            <p:ph type="ctrTitle"/>
          </p:nvPr>
        </p:nvSpPr>
        <p:spPr>
          <a:xfrm>
            <a:off x="1524000" y="1122363"/>
            <a:ext cx="9144000" cy="967694"/>
          </a:xfrm>
        </p:spPr>
        <p:txBody>
          <a:bodyPr/>
          <a:lstStyle/>
          <a:p>
            <a:r>
              <a:rPr lang="en-US" dirty="0"/>
              <a:t>Network Diagram</a:t>
            </a:r>
          </a:p>
        </p:txBody>
      </p:sp>
      <p:sp>
        <p:nvSpPr>
          <p:cNvPr id="3" name="Subtitle 2">
            <a:extLst>
              <a:ext uri="{FF2B5EF4-FFF2-40B4-BE49-F238E27FC236}">
                <a16:creationId xmlns:a16="http://schemas.microsoft.com/office/drawing/2014/main" id="{C6B2DAAE-D0F9-C8D5-4BB8-15650F9D7CBA}"/>
              </a:ext>
            </a:extLst>
          </p:cNvPr>
          <p:cNvSpPr>
            <a:spLocks noGrp="1"/>
          </p:cNvSpPr>
          <p:nvPr>
            <p:ph type="subTitle" idx="1"/>
          </p:nvPr>
        </p:nvSpPr>
        <p:spPr/>
        <p:txBody>
          <a:bodyPr>
            <a:normAutofit fontScale="85000" lnSpcReduction="10000"/>
          </a:bodyPr>
          <a:lstStyle/>
          <a:p>
            <a:r>
              <a:rPr lang="en-US" dirty="0"/>
              <a:t>Design a 4G/5G Telecom Network Diagram from Integration Matrix</a:t>
            </a:r>
          </a:p>
          <a:p>
            <a:r>
              <a:rPr lang="en-US" sz="1200" dirty="0"/>
              <a:t>(This experiment is morphed with Dummy data to explain phenomenon and keeping Organization’s data secure)</a:t>
            </a:r>
          </a:p>
          <a:p>
            <a:r>
              <a:rPr lang="en-US" sz="1600" dirty="0"/>
              <a:t>Purpose: Designing Network Diagram for a customer by various employees leads to different diagram structure by every individual, increases challenge in understanding diagrams generated by other employees. Also, due to limited visibility on complex network structure, humans are more prone to errors/missing interfaces/integration points. With Network Diagram solution, a standard snip is created considering all integration points and interfaces, reduce human errors and enhances understanding network design based on standard network diagram. </a:t>
            </a:r>
            <a:endParaRPr lang="en-US" sz="1200" dirty="0"/>
          </a:p>
        </p:txBody>
      </p:sp>
    </p:spTree>
    <p:extLst>
      <p:ext uri="{BB962C8B-B14F-4D97-AF65-F5344CB8AC3E}">
        <p14:creationId xmlns:p14="http://schemas.microsoft.com/office/powerpoint/2010/main" val="465318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D0ADB-C660-4BEB-BBC4-2BE88881A29F}"/>
              </a:ext>
            </a:extLst>
          </p:cNvPr>
          <p:cNvSpPr>
            <a:spLocks noGrp="1"/>
          </p:cNvSpPr>
          <p:nvPr>
            <p:ph type="title"/>
          </p:nvPr>
        </p:nvSpPr>
        <p:spPr>
          <a:xfrm>
            <a:off x="768531" y="117837"/>
            <a:ext cx="10515600" cy="1325563"/>
          </a:xfrm>
        </p:spPr>
        <p:txBody>
          <a:bodyPr/>
          <a:lstStyle/>
          <a:p>
            <a:r>
              <a:rPr lang="en-US" dirty="0"/>
              <a:t>Input: Define Nodes, Interfaces, Position</a:t>
            </a:r>
          </a:p>
        </p:txBody>
      </p:sp>
      <p:pic>
        <p:nvPicPr>
          <p:cNvPr id="8" name="Content Placeholder 7">
            <a:extLst>
              <a:ext uri="{FF2B5EF4-FFF2-40B4-BE49-F238E27FC236}">
                <a16:creationId xmlns:a16="http://schemas.microsoft.com/office/drawing/2014/main" id="{32A6CCE8-0834-F8D2-A996-5640A1849FFB}"/>
              </a:ext>
            </a:extLst>
          </p:cNvPr>
          <p:cNvPicPr>
            <a:picLocks noGrp="1" noChangeAspect="1"/>
          </p:cNvPicPr>
          <p:nvPr>
            <p:ph idx="1"/>
          </p:nvPr>
        </p:nvPicPr>
        <p:blipFill>
          <a:blip r:embed="rId2"/>
          <a:stretch>
            <a:fillRect/>
          </a:stretch>
        </p:blipFill>
        <p:spPr>
          <a:xfrm>
            <a:off x="595230" y="1538157"/>
            <a:ext cx="4390427" cy="1537414"/>
          </a:xfrm>
          <a:prstGeom prst="rect">
            <a:avLst/>
          </a:prstGeom>
        </p:spPr>
      </p:pic>
      <p:pic>
        <p:nvPicPr>
          <p:cNvPr id="12" name="Picture 11">
            <a:extLst>
              <a:ext uri="{FF2B5EF4-FFF2-40B4-BE49-F238E27FC236}">
                <a16:creationId xmlns:a16="http://schemas.microsoft.com/office/drawing/2014/main" id="{44993F35-1A6D-4F57-81A0-27D957C43212}"/>
              </a:ext>
            </a:extLst>
          </p:cNvPr>
          <p:cNvPicPr>
            <a:picLocks noChangeAspect="1"/>
          </p:cNvPicPr>
          <p:nvPr/>
        </p:nvPicPr>
        <p:blipFill>
          <a:blip r:embed="rId3"/>
          <a:stretch>
            <a:fillRect/>
          </a:stretch>
        </p:blipFill>
        <p:spPr>
          <a:xfrm>
            <a:off x="3813700" y="2470149"/>
            <a:ext cx="5353797" cy="2391109"/>
          </a:xfrm>
          <a:prstGeom prst="rect">
            <a:avLst/>
          </a:prstGeom>
        </p:spPr>
      </p:pic>
      <p:pic>
        <p:nvPicPr>
          <p:cNvPr id="16" name="Picture 15">
            <a:extLst>
              <a:ext uri="{FF2B5EF4-FFF2-40B4-BE49-F238E27FC236}">
                <a16:creationId xmlns:a16="http://schemas.microsoft.com/office/drawing/2014/main" id="{C8D98A7D-07BE-3E54-CBBA-F2E191297B62}"/>
              </a:ext>
            </a:extLst>
          </p:cNvPr>
          <p:cNvPicPr>
            <a:picLocks noChangeAspect="1"/>
          </p:cNvPicPr>
          <p:nvPr/>
        </p:nvPicPr>
        <p:blipFill>
          <a:blip r:embed="rId4"/>
          <a:stretch>
            <a:fillRect/>
          </a:stretch>
        </p:blipFill>
        <p:spPr>
          <a:xfrm>
            <a:off x="7572093" y="3985226"/>
            <a:ext cx="4058216" cy="2657846"/>
          </a:xfrm>
          <a:prstGeom prst="rect">
            <a:avLst/>
          </a:prstGeom>
        </p:spPr>
      </p:pic>
      <p:sp>
        <p:nvSpPr>
          <p:cNvPr id="20" name="TextBox 19">
            <a:extLst>
              <a:ext uri="{FF2B5EF4-FFF2-40B4-BE49-F238E27FC236}">
                <a16:creationId xmlns:a16="http://schemas.microsoft.com/office/drawing/2014/main" id="{3A8E11EB-FDAE-8655-4C15-16F3D78CFA77}"/>
              </a:ext>
            </a:extLst>
          </p:cNvPr>
          <p:cNvSpPr txBox="1"/>
          <p:nvPr/>
        </p:nvSpPr>
        <p:spPr>
          <a:xfrm>
            <a:off x="827315" y="5812075"/>
            <a:ext cx="6862355" cy="830997"/>
          </a:xfrm>
          <a:prstGeom prst="rect">
            <a:avLst/>
          </a:prstGeom>
          <a:noFill/>
        </p:spPr>
        <p:txBody>
          <a:bodyPr wrap="square">
            <a:spAutoFit/>
          </a:bodyPr>
          <a:lstStyle/>
          <a:p>
            <a:r>
              <a:rPr lang="en-US" sz="1600" dirty="0"/>
              <a:t>FYI: Due to more control of position, it’s asked by peers to define it manually, else automatic position can also be determined based on popularity of interfaces with other nodes.</a:t>
            </a:r>
            <a:endParaRPr lang="en-US" dirty="0"/>
          </a:p>
        </p:txBody>
      </p:sp>
    </p:spTree>
    <p:extLst>
      <p:ext uri="{BB962C8B-B14F-4D97-AF65-F5344CB8AC3E}">
        <p14:creationId xmlns:p14="http://schemas.microsoft.com/office/powerpoint/2010/main" val="2816142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8DD14-15FE-FBD5-79DE-8EF2EA6B2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87445-2EAE-37BA-937D-E257F30ECC24}"/>
              </a:ext>
            </a:extLst>
          </p:cNvPr>
          <p:cNvSpPr>
            <a:spLocks noGrp="1"/>
          </p:cNvSpPr>
          <p:nvPr>
            <p:ph type="title"/>
          </p:nvPr>
        </p:nvSpPr>
        <p:spPr>
          <a:xfrm>
            <a:off x="838200" y="190953"/>
            <a:ext cx="10515600" cy="1325563"/>
          </a:xfrm>
        </p:spPr>
        <p:txBody>
          <a:bodyPr/>
          <a:lstStyle/>
          <a:p>
            <a:r>
              <a:rPr lang="en-US" dirty="0"/>
              <a:t>Graphs for Visualization</a:t>
            </a:r>
          </a:p>
        </p:txBody>
      </p:sp>
      <p:pic>
        <p:nvPicPr>
          <p:cNvPr id="5" name="Content Placeholder 4">
            <a:extLst>
              <a:ext uri="{FF2B5EF4-FFF2-40B4-BE49-F238E27FC236}">
                <a16:creationId xmlns:a16="http://schemas.microsoft.com/office/drawing/2014/main" id="{35F132DE-918C-F6DF-C72C-EE5B6956972D}"/>
              </a:ext>
            </a:extLst>
          </p:cNvPr>
          <p:cNvPicPr>
            <a:picLocks noGrp="1" noChangeAspect="1"/>
          </p:cNvPicPr>
          <p:nvPr>
            <p:ph idx="1"/>
          </p:nvPr>
        </p:nvPicPr>
        <p:blipFill>
          <a:blip r:embed="rId2"/>
          <a:stretch>
            <a:fillRect/>
          </a:stretch>
        </p:blipFill>
        <p:spPr>
          <a:xfrm>
            <a:off x="838200" y="1253331"/>
            <a:ext cx="10515600" cy="5477792"/>
          </a:xfrm>
          <a:prstGeom prst="rect">
            <a:avLst/>
          </a:prstGeom>
        </p:spPr>
      </p:pic>
    </p:spTree>
    <p:extLst>
      <p:ext uri="{BB962C8B-B14F-4D97-AF65-F5344CB8AC3E}">
        <p14:creationId xmlns:p14="http://schemas.microsoft.com/office/powerpoint/2010/main" val="3359186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160</Words>
  <Application>Microsoft Office PowerPoint</Application>
  <PresentationFormat>Widescreen</PresentationFormat>
  <Paragraphs>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Network Diagram</vt:lpstr>
      <vt:lpstr>Input: Define Nodes, Interfaces, Position</vt:lpstr>
      <vt:lpstr>Graphs for Visualization</vt:lpstr>
    </vt:vector>
  </TitlesOfParts>
  <Company>Ericsson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Shivam Kosta</dc:creator>
  <cp:lastModifiedBy>Shivam Kosta</cp:lastModifiedBy>
  <cp:revision>4</cp:revision>
  <dcterms:created xsi:type="dcterms:W3CDTF">2026-08-14T12:30:42Z</dcterms:created>
  <dcterms:modified xsi:type="dcterms:W3CDTF">2026-08-14T14:04:23Z</dcterms:modified>
</cp:coreProperties>
</file>